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jpg"/><Relationship Id="rId4" Type="http://schemas.openxmlformats.org/officeDocument/2006/relationships/image" Target="../media/image3.jpg"/><Relationship Id="rId5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720000">
            <a:off x="8412480" y="-1371600"/>
            <a:ext cx="7315200" cy="10058400"/>
          </a:xfrm>
          <a:prstGeom prst="parallelogram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arallelogram 3"/>
          <p:cNvSpPr/>
          <p:nvPr/>
        </p:nvSpPr>
        <p:spPr>
          <a:xfrm rot="720000">
            <a:off x="6949440" y="-2286000"/>
            <a:ext cx="457200" cy="11887200"/>
          </a:xfrm>
          <a:prstGeom prst="parallelogram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Freeform 5"/>
          <p:cNvSpPr/>
          <p:nvPr/>
        </p:nvSpPr>
        <p:spPr>
          <a:xfrm>
            <a:off x="53645" y="-150876"/>
            <a:ext cx="585520" cy="859536"/>
          </a:xfrm>
          <a:custGeom>
            <a:avLst/>
            <a:gdLst/>
            <a:ahLst/>
            <a:cxnLst/>
            <a:rect l="l" t="t" r="r" b="b"/>
            <a:pathLst>
              <a:path w="585520" h="859536">
                <a:moveTo>
                  <a:pt x="585520" y="859536"/>
                </a:moveTo>
                <a:lnTo>
                  <a:pt x="0" y="150876"/>
                </a:lnTo>
                <a:lnTo>
                  <a:pt x="53645" y="60350"/>
                </a:lnTo>
                <a:lnTo>
                  <a:pt x="107289" y="261518"/>
                </a:lnTo>
                <a:lnTo>
                  <a:pt x="160934" y="0"/>
                </a:lnTo>
                <a:lnTo>
                  <a:pt x="214579" y="150876"/>
                </a:lnTo>
                <a:lnTo>
                  <a:pt x="268224" y="150876"/>
                </a:lnTo>
              </a:path>
            </a:pathLst>
          </a:cu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457200"/>
            <a:ext cx="320040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BioMedMeet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63040"/>
            <a:ext cx="7315200" cy="502920"/>
          </a:xfrm>
          <a:prstGeom prst="roundRect">
            <a:avLst>
              <a:gd name="adj" fmla="val 50000"/>
            </a:avLst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46304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PREPARED FOR OCHSNER HEALTH  ·  MAY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9456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HOSPITAL CASE-MEETING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697480"/>
            <a:ext cx="9144000" cy="228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Stop scheduling.</a:t>
            </a:r>
          </a:p>
          <a:p>
            <a:pPr algn="l"/>
            <a:r>
              <a:rPr sz="6000" b="1" i="0">
                <a:solidFill>
                  <a:srgbClr val="FFFFFF"/>
                </a:solidFill>
                <a:latin typeface="Calibri"/>
              </a:rPr>
              <a:t>Start deciding.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 i="0">
                <a:solidFill>
                  <a:srgbClr val="ECEAE3"/>
                </a:solidFill>
                <a:latin typeface="Calibri"/>
              </a:rPr>
              <a:t>A walkthrough for Ochsner Health — how BioMedMeet turns weekly multidisciplinary case meetings into structured, audit-ready decisions without the calendaring, minute-taking and follow-up overhead.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3017520" cy="548640"/>
          </a:xfrm>
          <a:prstGeom prst="roundRect">
            <a:avLst>
              <a:gd name="adj" fmla="val 50000"/>
            </a:avLst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7607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Request your 15-minute demo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CEAE3"/>
                </a:solidFill>
                <a:latin typeface="Calibri"/>
              </a:rPr>
              <a:t>Demo deck  ·  Prepared for Ochsner Health  ·  Demo@BioMedMeet.com  ·  biomedmeet.com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WHAT BIOMEDMEET MEANS FOR OCHSNER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0B30"/>
                </a:solidFill>
                <a:latin typeface="Calibri"/>
              </a:rPr>
              <a:t>The case-meeting platform built for hospital teams.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612648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Tumor boards, MDTs, M&amp;Ms, departmental rounds — every hospital runs them, and every hospital wastes 15+ hours per team per week around them.</a:t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BioMedMeet replaces the spreadsheets, email threads, ad-hoc Teams invites and post-meeting follow-ups with one purpose-built workflow: schedule, present cases, log decisions, generate a signed PDF summary, distribute it automatically.</a:t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/>
            </a:r>
          </a:p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Self-hosted on your own network. No PHI ever leaves the hospital. Microsoft Teams integration. Holiday-aware recurring schedules. RSVP via email or in-app. Decision-log audit trail.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697480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0" y="2697480"/>
            <a:ext cx="91440" cy="105156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0" y="280720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3B6658"/>
                </a:solidFill>
                <a:latin typeface="Calibri"/>
              </a:rPr>
              <a:t>18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0" y="331927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saved per team per week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0" y="3931920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0" y="3931920"/>
            <a:ext cx="91440" cy="105156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0" y="404164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94E20"/>
                </a:solidFill>
                <a:latin typeface="Calibri"/>
              </a:rPr>
              <a:t>$187,200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455371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clinician time recovered / yr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5166360"/>
            <a:ext cx="4206240" cy="1051560"/>
          </a:xfrm>
          <a:prstGeom prst="roundRect">
            <a:avLst>
              <a:gd name="adj" fmla="val 12000"/>
            </a:avLst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0" y="5166360"/>
            <a:ext cx="91440" cy="105156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89520" y="5276088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68517D"/>
                </a:solidFill>
                <a:latin typeface="Calibri"/>
              </a:rPr>
              <a:t>~1.6 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89520" y="5788152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payback period vs. licence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WHY HOSPITALS BUY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200" b="1" i="0">
                <a:solidFill>
                  <a:srgbClr val="0B0B30"/>
                </a:solidFill>
                <a:latin typeface="Calibri"/>
              </a:rPr>
              <a:t>From scattered tools  →  one structured workflow.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212080" cy="4114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2606040"/>
            <a:ext cx="5212080" cy="4114800"/>
          </a:xfrm>
          <a:prstGeom prst="roundRect">
            <a:avLst>
              <a:gd name="adj" fmla="val 12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694E20"/>
                </a:solidFill>
                <a:latin typeface="Calibri"/>
              </a:rPr>
              <a:t>BEFORE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0632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Today, every Monday morning…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74903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74903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5 different Outlook threads scheduling one MDT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6052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1605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Agenda Word doc pasted into a chat 10 minutes 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457200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45720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Decisions captured in a scribe's notebook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498347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98347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Follow-ups manually dispatched to oncology, radiology, surgery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539495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694E20"/>
                </a:solidFill>
                <a:latin typeface="Calibri"/>
              </a:rPr>
              <a:t>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539495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4A5568"/>
                </a:solidFill>
                <a:latin typeface="Calibri"/>
              </a:rPr>
              <a:t>No audit trail when a decision is later challenged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788920"/>
            <a:ext cx="4572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AFTER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063240"/>
            <a:ext cx="4572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With BioMedMeet…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374903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0" y="374903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Recurring MDT scheduled once, Teams link auto-attached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66560" y="416052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416052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Agenda pulled from the patient list, in two clicks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66560" y="4572000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040880" y="4572000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Decisions logged live, signed off by the chair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98347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0" y="498347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PDF summary auto-mailed to attendees &amp; EMR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66560" y="5394959"/>
            <a:ext cx="228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0" y="5394959"/>
            <a:ext cx="4297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 i="0">
                <a:solidFill>
                  <a:srgbClr val="ECEAE3"/>
                </a:solidFill>
                <a:latin typeface="Calibri"/>
              </a:rPr>
              <a:t>Every decision time-stamped, attributable, exportable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PLATFORM CAPABILITIES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Six pillars. One platform. Zero spreadsheets.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91440" cy="169164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157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B6658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7432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Smart scheduling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172968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Recurring meetings (daily / weekly / monthly-on), holiday-aware for US, India and UK calendars, with Teams links generated on save.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34840" y="2606040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4840" y="2606040"/>
            <a:ext cx="91440" cy="169164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09160" y="27157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694E20"/>
                </a:solidFill>
                <a:latin typeface="Calibr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0" y="27432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Patient case rooms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60" y="3172968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Patient cases attached to a meeting with diagnoses, MRN, allergies, medications, files and a 5-tab case room for the discussion.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21040" y="2606040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321040" y="2606040"/>
            <a:ext cx="91440" cy="169164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595360" y="2715768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68517D"/>
                </a:solidFill>
                <a:latin typeface="Calibri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2743200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Decision log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95360" y="3172968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Every decision captured with the responsible doctor, priority, follow-up date and free-text rationale — searchable forever.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462272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E8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462272"/>
            <a:ext cx="91440" cy="169164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572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0B0B30"/>
                </a:solidFill>
                <a:latin typeface="Calibri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17320" y="459943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Treatment plans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5029200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A single source of truth per patient. Latest plan rolls up to the patient detail page; older plans become an audit history.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434840" y="4462272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434840" y="4462272"/>
            <a:ext cx="91440" cy="169164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09160" y="4572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3B6658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0" y="459943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PDF summaries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09160" y="5029200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One-click PDF summary at meeting close — attendees, decisions, treatment plans, agenda items. Mailed automatically.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4462272"/>
            <a:ext cx="3794760" cy="169164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321040" y="4462272"/>
            <a:ext cx="91440" cy="169164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95360" y="4572000"/>
            <a:ext cx="1371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 i="0">
                <a:solidFill>
                  <a:srgbClr val="694E20"/>
                </a:solidFill>
                <a:latin typeface="Calibri"/>
              </a:rPr>
              <a:t>06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89720" y="4599432"/>
            <a:ext cx="2880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0B0B30"/>
                </a:solidFill>
                <a:latin typeface="Calibri"/>
              </a:rPr>
              <a:t>Inbound RSVP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5029200"/>
            <a:ext cx="333756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Participants RSVP from email links *and* by replying to the invite. An admin RSVP log surfaces every parsed reply for audit.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THE 4-STEP MEETING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Schedule  →  Discuss  →  Decide  →  Distribute.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27432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22960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28620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Schedule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Recurring meetings with Teams links auto-attached, holiday-aware date validation, and email invites with iCal.</a:t>
            </a:r>
          </a:p>
        </p:txBody>
      </p:sp>
      <p:pic>
        <p:nvPicPr>
          <p:cNvPr id="14" name="Picture 13" descr="step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4800600"/>
            <a:ext cx="2286000" cy="114300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383280" y="2606040"/>
            <a:ext cx="27432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0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43400" y="28620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Discuss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35661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Live 5-tab case room: Patients, Agenda, Files, Treatment Plans, Decisions. Built for an MDT panel.</a:t>
            </a:r>
          </a:p>
        </p:txBody>
      </p:sp>
      <p:pic>
        <p:nvPicPr>
          <p:cNvPr id="20" name="Picture 19" descr="step2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4800600"/>
            <a:ext cx="2286000" cy="114300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6217920" y="2606040"/>
            <a:ext cx="27432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92240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9224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8620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Decide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35661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Decision log captures the chair-approved outcome, owner, priority and follow-up — every entry signed.</a:t>
            </a:r>
          </a:p>
        </p:txBody>
      </p:sp>
      <p:pic>
        <p:nvPicPr>
          <p:cNvPr id="26" name="Picture 25" descr="step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0" y="4800600"/>
            <a:ext cx="2286000" cy="1143000"/>
          </a:xfrm>
          <a:prstGeom prst="rect">
            <a:avLst/>
          </a:prstGeom>
        </p:spPr>
      </p:pic>
      <p:sp>
        <p:nvSpPr>
          <p:cNvPr id="27" name="Rounded Rectangle 26"/>
          <p:cNvSpPr/>
          <p:nvPr/>
        </p:nvSpPr>
        <p:spPr>
          <a:xfrm>
            <a:off x="9052560" y="2606040"/>
            <a:ext cx="2743200" cy="34747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326880" y="2834640"/>
            <a:ext cx="548640" cy="548640"/>
          </a:xfrm>
          <a:prstGeom prst="roundRect">
            <a:avLst>
              <a:gd name="adj" fmla="val 50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26880" y="283464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12680" y="2862072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0B0B30"/>
                </a:solidFill>
                <a:latin typeface="Calibri"/>
              </a:rPr>
              <a:t>Distribute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326880" y="3566160"/>
            <a:ext cx="2286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Auto PDF + auto-email to attendees the moment the meeting is closed. Searchable history per patient.</a:t>
            </a:r>
          </a:p>
        </p:txBody>
      </p:sp>
      <p:pic>
        <p:nvPicPr>
          <p:cNvPr id="32" name="Picture 31" descr="step4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4800600"/>
            <a:ext cx="2286000" cy="114300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ARCHITECTURE &amp;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Designed to satisfy your CISO before your CMO.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91440" cy="169164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88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On-prem by default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1927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Self-hosted Docker stack on your hospital network. PHI never leaves the building.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35040" y="260604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606040"/>
            <a:ext cx="91440" cy="169164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278892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Microsoft 365 native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31927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Graph API for Teams meetings, SMTP for invites, iCal for two-way calendar sync.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2628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4526280"/>
            <a:ext cx="91440" cy="169164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8680" y="4709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Audit-ready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23951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Every decision timestamped, attributable, exportable. Soft-deletes preserve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035040" y="4526280"/>
            <a:ext cx="53035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035040" y="4526280"/>
            <a:ext cx="91440" cy="169164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55080" y="47091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Role-based access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5080" y="5239512"/>
            <a:ext cx="48463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Organizer, doctor, nurse, admin. Field-level guardrails on patient updates, agenda changes &amp; decisions.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PRICING FOR OCHSNER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1" i="0">
                <a:solidFill>
                  <a:srgbClr val="0B0B30"/>
                </a:solidFill>
                <a:latin typeface="Calibri"/>
              </a:rPr>
              <a:t>Own it. Don't rent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14884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 i="0">
                <a:solidFill>
                  <a:srgbClr val="4A5568"/>
                </a:solidFill>
                <a:latin typeface="Calibri"/>
              </a:rPr>
              <a:t>One-time perpetual licence. Self-hosted. No per-user fees. No monthly bill. Two-month warranty trial.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788920"/>
            <a:ext cx="5852160" cy="3520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solidFill>
              <a:srgbClr val="ECEA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30175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B6658"/>
                </a:solidFill>
                <a:latin typeface="Calibri"/>
              </a:rPr>
              <a:t>PERPETUAL LICENCE  ·  SELF-HOSTED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337560"/>
            <a:ext cx="50292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4A5568"/>
                </a:solidFill>
                <a:latin typeface="Calibri"/>
              </a:rPr>
              <a:t>BioMedMeet for Ochsner Health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794760"/>
            <a:ext cx="50292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200" b="1" i="0">
                <a:solidFill>
                  <a:srgbClr val="0B0B30"/>
                </a:solidFill>
                <a:latin typeface="Calibri"/>
              </a:rPr>
              <a:t>$25,000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4A5568"/>
                </a:solidFill>
                <a:latin typeface="Calibri"/>
              </a:rPr>
              <a:t>+ applicable taxes  ·  one-time  ·  no recurring fees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5440680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Unlimited users · unlimited meetings · unlimited patients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5660136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5660136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Microsoft Teams + holiday-aware recurring calendar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79592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879592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Decision log · treatment plans · PDF summaries · audit trail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6099048"/>
            <a:ext cx="18288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B6658"/>
                </a:solidFill>
                <a:latin typeface="Calibri"/>
              </a:rPr>
              <a:t>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6099048"/>
            <a:ext cx="49377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4A5568"/>
                </a:solidFill>
                <a:latin typeface="Calibri"/>
              </a:rPr>
              <a:t>Two-month warranty trial — full refund window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675120" y="2788920"/>
            <a:ext cx="4937760" cy="3520440"/>
          </a:xfrm>
          <a:prstGeom prst="roundRect">
            <a:avLst>
              <a:gd name="adj" fmla="val 12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949440" y="3017520"/>
            <a:ext cx="43891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B6658"/>
                </a:solidFill>
                <a:latin typeface="Calibri"/>
              </a:rPr>
              <a:t>WHAT YOU DON'T PAY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49440" y="3337560"/>
            <a:ext cx="43891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Compare against the SaaS alternative.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406908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Per-user monthly fees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40690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0" y="441655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Per-meeting / per-case fees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441655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40" y="476402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Cloud storage add-ons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241280" y="476402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49440" y="511149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Annual renewal markup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5111496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49440" y="545896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Data-egress charges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5458968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$0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5806440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ECEAE3"/>
                </a:solidFill>
                <a:latin typeface="Calibri"/>
              </a:rPr>
              <a:t>Lock-in clause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241280" y="58064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200" b="1" i="0">
                <a:solidFill>
                  <a:srgbClr val="3B6658"/>
                </a:solidFill>
                <a:latin typeface="Calibri"/>
              </a:rPr>
              <a:t>None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5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RETURN ON INVESTMENT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Pays for itself before the warranty trial ends.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91440" cy="169164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43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3B6658"/>
                </a:solidFill>
                <a:latin typeface="Calibri"/>
              </a:rPr>
              <a:t>18 hrs /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474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Hours reclaimed per MDT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260604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606040"/>
            <a:ext cx="91440" cy="169164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3440" y="2743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94E20"/>
                </a:solidFill>
                <a:latin typeface="Calibri"/>
              </a:rPr>
              <a:t>$187,200 / year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3474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Clinician time recovered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606040"/>
            <a:ext cx="3657600" cy="1691640"/>
          </a:xfrm>
          <a:prstGeom prst="roundRect">
            <a:avLst>
              <a:gd name="adj" fmla="val 12000"/>
            </a:avLst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0" y="2606040"/>
            <a:ext cx="91440" cy="169164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68517D"/>
                </a:solidFill>
                <a:latin typeface="Calibri"/>
              </a:rPr>
              <a:t>1.6 months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3920" y="3474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Payback period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6634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 i="0">
                <a:solidFill>
                  <a:srgbClr val="0B0B30"/>
                </a:solidFill>
                <a:latin typeface="Calibri"/>
              </a:rPr>
              <a:t>Where the 18 hours go each week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4983480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1">
                <a:solidFill>
                  <a:srgbClr val="4A5568"/>
                </a:solidFill>
                <a:latin typeface="Calibri"/>
              </a:rPr>
              <a:t>Time-and-motion estimates from clinical teams running 1–2 case conferences/week.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Scheduling &amp; calendaring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00400" y="5385816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200400" y="5385816"/>
            <a:ext cx="5943600" cy="164592"/>
          </a:xfrm>
          <a:prstGeom prst="roundRect">
            <a:avLst>
              <a:gd name="adj" fmla="val 40000"/>
            </a:avLst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235440" y="5349240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5.0 hrs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586983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Agenda prep &amp; case pulls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200400" y="5623559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200400" y="5623559"/>
            <a:ext cx="4754880" cy="164592"/>
          </a:xfrm>
          <a:prstGeom prst="roundRect">
            <a:avLst>
              <a:gd name="adj" fmla="val 40000"/>
            </a:avLst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235440" y="5586983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4.0 hrs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5824727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Minute-taking &amp; decision log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200400" y="5861303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200400" y="5861303"/>
            <a:ext cx="4160520" cy="164592"/>
          </a:xfrm>
          <a:prstGeom prst="roundRect">
            <a:avLst>
              <a:gd name="adj" fmla="val 40000"/>
            </a:avLst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5824727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3.5 hrs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6062472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RSVP chase &amp; no-show recovery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200400" y="6099048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200400" y="6099048"/>
            <a:ext cx="3566160" cy="164592"/>
          </a:xfrm>
          <a:prstGeom prst="roundRect">
            <a:avLst>
              <a:gd name="adj" fmla="val 40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6062472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3.0 hrs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6300216"/>
            <a:ext cx="25603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0">
                <a:solidFill>
                  <a:srgbClr val="0B0B30"/>
                </a:solidFill>
                <a:latin typeface="Calibri"/>
              </a:rPr>
              <a:t>Post-meeting follow-up emails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00400" y="6336792"/>
            <a:ext cx="5943600" cy="164592"/>
          </a:xfrm>
          <a:prstGeom prst="roundRect">
            <a:avLst>
              <a:gd name="adj" fmla="val 12000"/>
            </a:avLst>
          </a:prstGeom>
          <a:solidFill>
            <a:srgbClr val="ECEAE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200400" y="6336792"/>
            <a:ext cx="2971800" cy="164592"/>
          </a:xfrm>
          <a:prstGeom prst="roundRect">
            <a:avLst>
              <a:gd name="adj" fmla="val 40000"/>
            </a:avLst>
          </a:prstGeom>
          <a:solidFill>
            <a:srgbClr val="4A55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6300216"/>
            <a:ext cx="914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B0B30"/>
                </a:solidFill>
                <a:latin typeface="Calibri"/>
              </a:rPr>
              <a:t>2.5 hrs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A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6576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9F5EE"/>
          </a:solidFill>
          <a:ln w="19050">
            <a:solidFill>
              <a:srgbClr val="0B0B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48768" y="-137160"/>
            <a:ext cx="490728" cy="731520"/>
          </a:xfrm>
          <a:custGeom>
            <a:avLst/>
            <a:gdLst/>
            <a:ahLst/>
            <a:cxnLst/>
            <a:rect l="l" t="t" r="r" b="b"/>
            <a:pathLst>
              <a:path w="490728" h="731520">
                <a:moveTo>
                  <a:pt x="490728" y="731520"/>
                </a:moveTo>
                <a:lnTo>
                  <a:pt x="0" y="137160"/>
                </a:lnTo>
                <a:lnTo>
                  <a:pt x="48768" y="54864"/>
                </a:lnTo>
                <a:lnTo>
                  <a:pt x="97536" y="237744"/>
                </a:lnTo>
                <a:lnTo>
                  <a:pt x="146304" y="0"/>
                </a:lnTo>
                <a:lnTo>
                  <a:pt x="195072" y="137160"/>
                </a:lnTo>
                <a:lnTo>
                  <a:pt x="243840" y="137160"/>
                </a:lnTo>
              </a:path>
            </a:pathLst>
          </a:custGeom>
          <a:noFill/>
          <a:ln w="31750">
            <a:solidFill>
              <a:srgbClr val="0B0B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365760"/>
            <a:ext cx="3200400" cy="45720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0B0B30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09728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>
                <a:solidFill>
                  <a:srgbClr val="3B6658"/>
                </a:solidFill>
                <a:latin typeface="Calibri"/>
              </a:rPr>
              <a:t>REVENUE &amp; THROUGHPUT BENEFITS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4173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0B0B30"/>
                </a:solidFill>
                <a:latin typeface="Calibri"/>
              </a:rPr>
              <a:t>Beyond hours — what BioMedMeet unlocks.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606040"/>
            <a:ext cx="5303520" cy="2057400"/>
          </a:xfrm>
          <a:prstGeom prst="roundRect">
            <a:avLst>
              <a:gd name="adj" fmla="val 12000"/>
            </a:avLst>
          </a:prstGeom>
          <a:solidFill>
            <a:srgbClr val="E8F5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06040"/>
            <a:ext cx="91440" cy="2057400"/>
          </a:xfrm>
          <a:prstGeom prst="rect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2770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0B30"/>
                </a:solidFill>
                <a:latin typeface="Calibri"/>
              </a:rPr>
              <a:t>Faster decisions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931920" y="2807208"/>
            <a:ext cx="1691640" cy="320040"/>
          </a:xfrm>
          <a:prstGeom prst="roundRect">
            <a:avLst>
              <a:gd name="adj" fmla="val 50000"/>
            </a:avLst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31920" y="280720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+1 case / MDT /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337560"/>
            <a:ext cx="4754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Decision-to-distribution time falls from days to minutes. Patients reach treatment sooner; throughput per MDT rises.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35040" y="2606040"/>
            <a:ext cx="5303520" cy="2057400"/>
          </a:xfrm>
          <a:prstGeom prst="roundRect">
            <a:avLst>
              <a:gd name="adj" fmla="val 12000"/>
            </a:avLst>
          </a:prstGeom>
          <a:solidFill>
            <a:srgbClr val="F5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35040" y="2606040"/>
            <a:ext cx="91440" cy="2057400"/>
          </a:xfrm>
          <a:prstGeom prst="rect">
            <a:avLst/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7063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0B30"/>
                </a:solidFill>
                <a:latin typeface="Calibri"/>
              </a:rPr>
              <a:t>Higher-value MDTs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418320" y="2807208"/>
            <a:ext cx="1691640" cy="320040"/>
          </a:xfrm>
          <a:prstGeom prst="roundRect">
            <a:avLst>
              <a:gd name="adj" fmla="val 50000"/>
            </a:avLst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0" y="280720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30-40% capacity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5080" y="3337560"/>
            <a:ext cx="4754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Structured case rooms let panels handle 30–40% more cases in the same calendar slot. No time lost to scheduling friction.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46320"/>
            <a:ext cx="5303520" cy="2057400"/>
          </a:xfrm>
          <a:prstGeom prst="roundRect">
            <a:avLst>
              <a:gd name="adj" fmla="val 12000"/>
            </a:avLst>
          </a:prstGeom>
          <a:solidFill>
            <a:srgbClr val="F3E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8640" y="4846320"/>
            <a:ext cx="91440" cy="2057400"/>
          </a:xfrm>
          <a:prstGeom prst="rect">
            <a:avLst/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0109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0B30"/>
                </a:solidFill>
                <a:latin typeface="Calibri"/>
              </a:rPr>
              <a:t>Stronger billing &amp; coding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0" y="5047488"/>
            <a:ext cx="1691640" cy="320040"/>
          </a:xfrm>
          <a:prstGeom prst="roundRect">
            <a:avLst>
              <a:gd name="adj" fmla="val 50000"/>
            </a:avLst>
          </a:prstGeom>
          <a:solidFill>
            <a:srgbClr val="68517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931920" y="504748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Lower denials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5577840"/>
            <a:ext cx="4754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Auto-generated, signed PDF summaries feed coders with structured decisions — fewer rejected claims, cleaner CPT documentation.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35040" y="4846320"/>
            <a:ext cx="5303520" cy="2057400"/>
          </a:xfrm>
          <a:prstGeom prst="roundRect">
            <a:avLst>
              <a:gd name="adj" fmla="val 12000"/>
            </a:avLst>
          </a:prstGeom>
          <a:solidFill>
            <a:srgbClr val="E8E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035040" y="4846320"/>
            <a:ext cx="91440" cy="205740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5010912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0B0B30"/>
                </a:solidFill>
                <a:latin typeface="Calibri"/>
              </a:rPr>
              <a:t>Audit &amp; accreditation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418320" y="5047488"/>
            <a:ext cx="1691640" cy="320040"/>
          </a:xfrm>
          <a:prstGeom prst="roundRect">
            <a:avLst>
              <a:gd name="adj" fmla="val 50000"/>
            </a:avLst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0" y="5047488"/>
            <a:ext cx="16916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Audit-ready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55080" y="5577840"/>
            <a:ext cx="47548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4A5568"/>
                </a:solidFill>
                <a:latin typeface="Calibri"/>
              </a:rPr>
              <a:t>Joint Commission / NABH-ready decision trail. One click to export any meeting's full history for review.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4A5568"/>
                </a:solidFill>
                <a:latin typeface="Calibri"/>
              </a:rPr>
              <a:t>BioMedMeet  ·  biomedmeet.com  ·  Demo@BioMedMeet.com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41280" y="64465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4A5568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B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Parallelogram 2"/>
          <p:cNvSpPr/>
          <p:nvPr/>
        </p:nvSpPr>
        <p:spPr>
          <a:xfrm rot="21240000">
            <a:off x="-1828800" y="5029200"/>
            <a:ext cx="18288000" cy="3200400"/>
          </a:xfrm>
          <a:prstGeom prst="parallelogram">
            <a:avLst/>
          </a:prstGeom>
          <a:solidFill>
            <a:srgbClr val="3B66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457200"/>
            <a:ext cx="502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53645" y="-150876"/>
            <a:ext cx="585520" cy="859536"/>
          </a:xfrm>
          <a:custGeom>
            <a:avLst/>
            <a:gdLst/>
            <a:ahLst/>
            <a:cxnLst/>
            <a:rect l="l" t="t" r="r" b="b"/>
            <a:pathLst>
              <a:path w="585520" h="859536">
                <a:moveTo>
                  <a:pt x="585520" y="859536"/>
                </a:moveTo>
                <a:lnTo>
                  <a:pt x="0" y="150876"/>
                </a:lnTo>
                <a:lnTo>
                  <a:pt x="53645" y="60350"/>
                </a:lnTo>
                <a:lnTo>
                  <a:pt x="107289" y="261518"/>
                </a:lnTo>
                <a:lnTo>
                  <a:pt x="160934" y="0"/>
                </a:lnTo>
                <a:lnTo>
                  <a:pt x="214579" y="150876"/>
                </a:lnTo>
                <a:lnTo>
                  <a:pt x="268224" y="150876"/>
                </a:lnTo>
              </a:path>
            </a:pathLst>
          </a:custGeom>
          <a:noFill/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57200"/>
            <a:ext cx="320040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alibri"/>
              </a:rPr>
              <a:t>BioMedMeet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828800"/>
            <a:ext cx="10058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3B6658"/>
                </a:solidFill>
                <a:latin typeface="Calibri"/>
              </a:rPr>
              <a:t>READY TO SEE IT LIVE?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31720"/>
            <a:ext cx="100584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Let's book a 15-minute walkthrough</a:t>
            </a:r>
          </a:p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for Ochsner Health.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 i="0">
                <a:solidFill>
                  <a:srgbClr val="ECEAE3"/>
                </a:solidFill>
                <a:latin typeface="Calibri"/>
              </a:rPr>
              <a:t>We'll bring a working sandbox so Ochsner Health's team can click around — schedule a recurring tumor board, run a sample case, generate the PDF — all in real time.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486400"/>
            <a:ext cx="3840480" cy="64008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48640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B0B30"/>
                </a:solidFill>
                <a:latin typeface="Calibri"/>
              </a:rPr>
              <a:t>Email  Demo@BioMedMeet.com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0" y="5486400"/>
            <a:ext cx="3840480" cy="640080"/>
          </a:xfrm>
          <a:prstGeom prst="roundRect">
            <a:avLst>
              <a:gd name="adj" fmla="val 50000"/>
            </a:avLst>
          </a:prstGeom>
          <a:solidFill>
            <a:srgbClr val="694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5486400"/>
            <a:ext cx="38404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Visit  biomedmeet.com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492240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 i="0">
                <a:solidFill>
                  <a:srgbClr val="ECEAE3"/>
                </a:solidFill>
                <a:latin typeface="Calibri"/>
              </a:rPr>
              <a:t>Thank you  ·  BioMedMeet  ·  biomedmeet.com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