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720000">
            <a:off x="8412480" y="-1371600"/>
            <a:ext cx="7315200" cy="10058400"/>
          </a:xfrm>
          <a:prstGeom prst="parallelogram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720000">
            <a:off x="6949440" y="-2286000"/>
            <a:ext cx="457200" cy="11887200"/>
          </a:xfrm>
          <a:prstGeom prst="parallelogram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3645" y="-150876"/>
            <a:ext cx="585520" cy="859536"/>
          </a:xfrm>
          <a:custGeom>
            <a:avLst/>
            <a:gdLst/>
            <a:ahLst/>
            <a:cxnLst/>
            <a:rect l="l" t="t" r="r" b="b"/>
            <a:pathLst>
              <a:path w="585520" h="859536">
                <a:moveTo>
                  <a:pt x="585520" y="859536"/>
                </a:moveTo>
                <a:lnTo>
                  <a:pt x="0" y="150876"/>
                </a:lnTo>
                <a:lnTo>
                  <a:pt x="53645" y="60350"/>
                </a:lnTo>
                <a:lnTo>
                  <a:pt x="107289" y="261518"/>
                </a:lnTo>
                <a:lnTo>
                  <a:pt x="160934" y="0"/>
                </a:lnTo>
                <a:lnTo>
                  <a:pt x="214579" y="150876"/>
                </a:lnTo>
                <a:lnTo>
                  <a:pt x="268224" y="150876"/>
                </a:lnTo>
              </a:path>
            </a:pathLst>
          </a:cu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457200"/>
            <a:ext cx="320040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BioMedMeet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7315200" cy="502920"/>
          </a:xfrm>
          <a:prstGeom prst="roundRect">
            <a:avLst>
              <a:gd name="adj" fmla="val 50000"/>
            </a:avLst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PREPARED FOR MAYO CLINIC  ·  MAY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HOSPITAL CASE-MEETING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9144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Stop scheduling.</a:t>
            </a:r>
          </a:p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Start deciding.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CEAE3"/>
                </a:solidFill>
                <a:latin typeface="Calibri"/>
              </a:rPr>
              <a:t>A walkthrough for Mayo Clinic — how BioMedMeet turns weekly multidisciplinary case meetings into structured, audit-ready decisions without the calendaring, minute-taking and follow-up overhead.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7607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Request your 15-minute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CEAE3"/>
                </a:solidFill>
                <a:latin typeface="Calibri"/>
              </a:rPr>
              <a:t>Demo deck  ·  Prepared for Mayo Clinic  ·  Demo@BioMedMeet.com  ·  biomedmeet.com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WHAT BIOMEDMEET MEANS FOR MAYO CLINIC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0B30"/>
                </a:solidFill>
                <a:latin typeface="Calibri"/>
              </a:rPr>
              <a:t>The case-meeting platform built for hospital teams.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61264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Tumor boards, MDTs, M&amp;Ms, departmental rounds — every hospital runs them, and every hospital wastes 15+ hours per team per week around them.</a:t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BioMedMeet replaces the spreadsheets, email threads, ad-hoc Teams invites and post-meeting follow-ups with one purpose-built workflow: schedule, present cases, log decisions, generate a signed PDF summary, distribute it automatically.</a:t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Self-hosted on your own network. No PHI ever leaves the hospital. Microsoft Teams integration. Holiday-aware recurring schedules. RSVP via email or in-app. Decision-log audit trail.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697480"/>
            <a:ext cx="4206240" cy="1051560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2697480"/>
            <a:ext cx="91440" cy="1051560"/>
          </a:xfrm>
          <a:prstGeom prst="rect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80720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B6658"/>
                </a:solidFill>
                <a:latin typeface="Calibri"/>
              </a:rPr>
              <a:t>18 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31927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saved per team per week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931920"/>
            <a:ext cx="4206240" cy="1051560"/>
          </a:xfrm>
          <a:prstGeom prst="roundRect">
            <a:avLst>
              <a:gd name="adj" fmla="val 12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3931920"/>
            <a:ext cx="91440" cy="1051560"/>
          </a:xfrm>
          <a:prstGeom prst="rect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404164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94E20"/>
                </a:solidFill>
                <a:latin typeface="Calibri"/>
              </a:rPr>
              <a:t>$187,200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55371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clinician time recovered / yr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5166360"/>
            <a:ext cx="4206240" cy="1051560"/>
          </a:xfrm>
          <a:prstGeom prst="roundRect">
            <a:avLst>
              <a:gd name="adj" fmla="val 12000"/>
            </a:avLst>
          </a:prstGeom>
          <a:solidFill>
            <a:srgbClr val="F3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5166360"/>
            <a:ext cx="91440" cy="1051560"/>
          </a:xfrm>
          <a:prstGeom prst="rect">
            <a:avLst/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527608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8517D"/>
                </a:solidFill>
                <a:latin typeface="Calibri"/>
              </a:rPr>
              <a:t>~1.6 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578815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payback period vs. licence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WHY HOSPITALS BUY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0B30"/>
                </a:solidFill>
                <a:latin typeface="Calibri"/>
              </a:rPr>
              <a:t>From scattered tools  →  one structured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521208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2606040"/>
            <a:ext cx="5212080" cy="4114800"/>
          </a:xfrm>
          <a:prstGeom prst="roundRect">
            <a:avLst>
              <a:gd name="adj" fmla="val 12000"/>
            </a:avLst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94E20"/>
                </a:solidFill>
                <a:latin typeface="Calibri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0B30"/>
                </a:solidFill>
                <a:latin typeface="Calibri"/>
              </a:rPr>
              <a:t>Today, every Monday morning…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49039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94E20"/>
                </a:solidFill>
                <a:latin typeface="Calibr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74903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5 different Outlook threads scheduling one MDT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6052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94E20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605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Agenda Word doc pasted into a chat 10 minutes before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7200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94E20"/>
                </a:solidFill>
                <a:latin typeface="Calibri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720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Decisions captured in a scribe's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983479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94E20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8347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Follow-ups manually dispatched to oncology, radiology, surgery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394959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94E20"/>
                </a:solidFill>
                <a:latin typeface="Calibri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39495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No audit trail when a decision is later challenged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788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B6658"/>
                </a:solidFill>
                <a:latin typeface="Calibri"/>
              </a:rPr>
              <a:t>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0632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With BioMedMeet…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749039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74903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AE3"/>
                </a:solidFill>
                <a:latin typeface="Calibri"/>
              </a:rPr>
              <a:t>Recurring MDT scheduled once, Teams link auto-attached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16052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1605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AE3"/>
                </a:solidFill>
                <a:latin typeface="Calibri"/>
              </a:rPr>
              <a:t>Agenda pulled from the patient list, in two clicks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57200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5720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AE3"/>
                </a:solidFill>
                <a:latin typeface="Calibri"/>
              </a:rPr>
              <a:t>Decisions logged live, signed off by the chair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983479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98347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AE3"/>
                </a:solidFill>
                <a:latin typeface="Calibri"/>
              </a:rPr>
              <a:t>PDF summary auto-mailed to attendees &amp; EMR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394959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539495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AE3"/>
                </a:solidFill>
                <a:latin typeface="Calibri"/>
              </a:rPr>
              <a:t>Every decision time-stamped, attributable, exportable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PLATFORM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0B30"/>
                </a:solidFill>
                <a:latin typeface="Calibri"/>
              </a:rPr>
              <a:t>Six pillars. One platform. Zero spreadsheets.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3794760" cy="1691640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91440" cy="1691640"/>
          </a:xfrm>
          <a:prstGeom prst="rect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157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B6658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432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30"/>
                </a:solidFill>
                <a:latin typeface="Calibri"/>
              </a:rPr>
              <a:t>Smart scheduling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72968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Recurring meetings (daily / weekly / monthly-on), holiday-aware for US, India and UK calendars, with Teams links generated on save.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606040"/>
            <a:ext cx="3794760" cy="1691640"/>
          </a:xfrm>
          <a:prstGeom prst="roundRect">
            <a:avLst>
              <a:gd name="adj" fmla="val 12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606040"/>
            <a:ext cx="91440" cy="1691640"/>
          </a:xfrm>
          <a:prstGeom prst="rect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7157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694E20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7432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30"/>
                </a:solidFill>
                <a:latin typeface="Calibri"/>
              </a:rPr>
              <a:t>Patient case rooms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172968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Patient cases attached to a meeting with diagnoses, MRN, allergies, medications, files and a 5-tab case room for the discussion.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606040"/>
            <a:ext cx="3794760" cy="1691640"/>
          </a:xfrm>
          <a:prstGeom prst="roundRect">
            <a:avLst>
              <a:gd name="adj" fmla="val 12000"/>
            </a:avLst>
          </a:prstGeom>
          <a:solidFill>
            <a:srgbClr val="F3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2606040"/>
            <a:ext cx="91440" cy="1691640"/>
          </a:xfrm>
          <a:prstGeom prst="rect">
            <a:avLst/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27157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68517D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7432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30"/>
                </a:solidFill>
                <a:latin typeface="Calibri"/>
              </a:rPr>
              <a:t>Decision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172968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Every decision captured with the responsible doctor, priority, follow-up date and free-text rationale — searchable forever.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62272"/>
            <a:ext cx="3794760" cy="1691640"/>
          </a:xfrm>
          <a:prstGeom prst="roundRect">
            <a:avLst>
              <a:gd name="adj" fmla="val 12000"/>
            </a:avLst>
          </a:prstGeom>
          <a:solidFill>
            <a:srgbClr val="E8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462272"/>
            <a:ext cx="91440" cy="1691640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720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0B30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59943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30"/>
                </a:solidFill>
                <a:latin typeface="Calibri"/>
              </a:rPr>
              <a:t>Treatment plans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29200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A single source of truth per patient. Latest plan rolls up to the patient detail page; older plans become an audit history.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462272"/>
            <a:ext cx="3794760" cy="1691640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4462272"/>
            <a:ext cx="91440" cy="1691640"/>
          </a:xfrm>
          <a:prstGeom prst="rect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45720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B6658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59943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30"/>
                </a:solidFill>
                <a:latin typeface="Calibri"/>
              </a:rPr>
              <a:t>PDF summaries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5029200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One-click PDF summary at meeting close — attendees, decisions, treatment plans, agenda items. Mailed automatically.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4462272"/>
            <a:ext cx="3794760" cy="1691640"/>
          </a:xfrm>
          <a:prstGeom prst="roundRect">
            <a:avLst>
              <a:gd name="adj" fmla="val 12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4462272"/>
            <a:ext cx="91440" cy="1691640"/>
          </a:xfrm>
          <a:prstGeom prst="rect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45720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694E20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459943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30"/>
                </a:solidFill>
                <a:latin typeface="Calibri"/>
              </a:rPr>
              <a:t>Inbound RSVP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5029200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Participants RSVP from email links *and* by replying to the invite. An admin RSVP log surfaces every parsed reply for audit.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THE 4-STEP MEETING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0B30"/>
                </a:solidFill>
                <a:latin typeface="Calibri"/>
              </a:rPr>
              <a:t>Schedule  →  Discuss  →  Decide  →  Distribute.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27432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834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6207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0B30"/>
                </a:solidFill>
                <a:latin typeface="Calibri"/>
              </a:rPr>
              <a:t>Schedule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Recurring meetings with Teams links auto-attached, holiday-aware date validation, and email invites with iCal.</a:t>
            </a:r>
          </a:p>
        </p:txBody>
      </p:sp>
      <p:pic>
        <p:nvPicPr>
          <p:cNvPr id="14" name="Picture 13" descr="ste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800600"/>
            <a:ext cx="2286000" cy="1143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383280" y="2606040"/>
            <a:ext cx="27432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0" y="2834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834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86207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0B30"/>
                </a:solidFill>
                <a:latin typeface="Calibri"/>
              </a:rPr>
              <a:t>Discuss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5661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Live 5-tab case room: Patients, Agenda, Files, Treatment Plans, Decisions. Built for an MDT panel.</a:t>
            </a:r>
          </a:p>
        </p:txBody>
      </p:sp>
      <p:pic>
        <p:nvPicPr>
          <p:cNvPr id="20" name="Picture 19" descr="step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800600"/>
            <a:ext cx="2286000" cy="1143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17920" y="2606040"/>
            <a:ext cx="27432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2834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834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86207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0B30"/>
                </a:solidFill>
                <a:latin typeface="Calibri"/>
              </a:rPr>
              <a:t>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661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Decision log captures the chair-approved outcome, owner, priority and follow-up — every entry signed.</a:t>
            </a:r>
          </a:p>
        </p:txBody>
      </p:sp>
      <p:pic>
        <p:nvPicPr>
          <p:cNvPr id="26" name="Picture 25" descr="step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800600"/>
            <a:ext cx="2286000" cy="114300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9052560" y="2606040"/>
            <a:ext cx="27432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0" y="2834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2834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86207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0B30"/>
                </a:solidFill>
                <a:latin typeface="Calibri"/>
              </a:rPr>
              <a:t>Distribute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5661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Auto PDF + auto-email to attendees the moment the meeting is closed. Searchable history per patient.</a:t>
            </a:r>
          </a:p>
        </p:txBody>
      </p:sp>
      <p:pic>
        <p:nvPicPr>
          <p:cNvPr id="32" name="Picture 31" descr="step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4800600"/>
            <a:ext cx="2286000" cy="1143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ARCHITECTURE &amp;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0B30"/>
                </a:solidFill>
                <a:latin typeface="Calibri"/>
              </a:rPr>
              <a:t>Designed to satisfy your CISO before your CMO.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530352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91440" cy="1691640"/>
          </a:xfrm>
          <a:prstGeom prst="rect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0B30"/>
                </a:solidFill>
                <a:latin typeface="Calibri"/>
              </a:rPr>
              <a:t>On-prem by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19272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Self-hosted Docker stack on your hospital network. PHI never leaves the building.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606040"/>
            <a:ext cx="530352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606040"/>
            <a:ext cx="91440" cy="1691640"/>
          </a:xfrm>
          <a:prstGeom prst="rect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788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0B30"/>
                </a:solidFill>
                <a:latin typeface="Calibri"/>
              </a:rPr>
              <a:t>Microsoft 365 native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319272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Graph API for Teams meetings, SMTP for invites, iCal for two-way calendar sync.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26280"/>
            <a:ext cx="530352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26280"/>
            <a:ext cx="91440" cy="1691640"/>
          </a:xfrm>
          <a:prstGeom prst="rect">
            <a:avLst/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091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0B30"/>
                </a:solidFill>
                <a:latin typeface="Calibri"/>
              </a:rPr>
              <a:t>Audit-ready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39512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Every decision timestamped, attributable, exportable. Soft-deletes preserve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526280"/>
            <a:ext cx="530352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4526280"/>
            <a:ext cx="91440" cy="1691640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7091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0B30"/>
                </a:solidFill>
                <a:latin typeface="Calibri"/>
              </a:rPr>
              <a:t>Role-based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239512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Organizer, doctor, nurse, admin. Field-level guardrails on patient updates, agenda changes &amp; decisions.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PRICING FOR MAYO CLINIC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0B30"/>
                </a:solidFill>
                <a:latin typeface="Calibri"/>
              </a:rPr>
              <a:t>Own it. Don't rent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One-time perpetual licence. Self-hosted. No per-user fees. No monthly bill. Two-month warranty trial.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585216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B6658"/>
                </a:solidFill>
                <a:latin typeface="Calibri"/>
              </a:rPr>
              <a:t>PERPETUAL LICENCE  ·  SELF-HOSTED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4A5568"/>
                </a:solidFill>
                <a:latin typeface="Calibri"/>
              </a:rPr>
              <a:t>BioMedMeet for Mayo Clinic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0B0B30"/>
                </a:solidFill>
                <a:latin typeface="Calibri"/>
              </a:rPr>
              <a:t>$25,000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+ applicable taxes  ·  one-time  ·  no recurring fees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44068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Unlimited users · unlimited meetings · unlimited patients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60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660136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Microsoft Teams + holiday-aware recurring calendar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7959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879592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Decision log · treatment plans · PDF summaries ·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09904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09904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Two-month warranty trial — full refund window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2788920"/>
            <a:ext cx="4937760" cy="3520440"/>
          </a:xfrm>
          <a:prstGeom prst="roundRect">
            <a:avLst>
              <a:gd name="adj" fmla="val 12000"/>
            </a:avLst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0175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B6658"/>
                </a:solidFill>
                <a:latin typeface="Calibri"/>
              </a:rPr>
              <a:t>WHAT YOU DON'T PAY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33756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Compare against the SaaS alternative.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0690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AE3"/>
                </a:solidFill>
                <a:latin typeface="Calibri"/>
              </a:rPr>
              <a:t>Per-user monthly fees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406908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B6658"/>
                </a:solidFill>
                <a:latin typeface="Calibri"/>
              </a:rPr>
              <a:t>$0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4165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AE3"/>
                </a:solidFill>
                <a:latin typeface="Calibri"/>
              </a:rPr>
              <a:t>Per-meeting / per-case fees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441655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B6658"/>
                </a:solidFill>
                <a:latin typeface="Calibri"/>
              </a:rP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76402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AE3"/>
                </a:solidFill>
                <a:latin typeface="Calibri"/>
              </a:rPr>
              <a:t>Cloud storage add-ons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476402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B6658"/>
                </a:solidFill>
                <a:latin typeface="Calibri"/>
              </a:rP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111496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AE3"/>
                </a:solidFill>
                <a:latin typeface="Calibri"/>
              </a:rPr>
              <a:t>Annual renewal markup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5111496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B6658"/>
                </a:solidFill>
                <a:latin typeface="Calibri"/>
              </a:rPr>
              <a:t>$0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45896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AE3"/>
                </a:solidFill>
                <a:latin typeface="Calibri"/>
              </a:rPr>
              <a:t>Data-egress charges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545896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B6658"/>
                </a:solidFill>
                <a:latin typeface="Calibri"/>
              </a:rP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8064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AE3"/>
                </a:solidFill>
                <a:latin typeface="Calibri"/>
              </a:rPr>
              <a:t>Lock-in clause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580644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B6658"/>
                </a:solidFill>
                <a:latin typeface="Calibri"/>
              </a:rPr>
              <a:t>None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RETURN ON INVESTMENT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0B30"/>
                </a:solidFill>
                <a:latin typeface="Calibri"/>
              </a:rPr>
              <a:t>Pays for itself before the warranty trial ends.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3657600" cy="1691640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91440" cy="1691640"/>
          </a:xfrm>
          <a:prstGeom prst="rect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B6658"/>
                </a:solidFill>
                <a:latin typeface="Calibri"/>
              </a:rPr>
              <a:t>18 hrs /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Hours reclaimed per MDT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606040"/>
            <a:ext cx="3657600" cy="1691640"/>
          </a:xfrm>
          <a:prstGeom prst="roundRect">
            <a:avLst>
              <a:gd name="adj" fmla="val 12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606040"/>
            <a:ext cx="91440" cy="1691640"/>
          </a:xfrm>
          <a:prstGeom prst="rect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7432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694E20"/>
                </a:solidFill>
                <a:latin typeface="Calibri"/>
              </a:rPr>
              <a:t>$187,200 /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74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Clinician time recovered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606040"/>
            <a:ext cx="3657600" cy="1691640"/>
          </a:xfrm>
          <a:prstGeom prst="roundRect">
            <a:avLst>
              <a:gd name="adj" fmla="val 12000"/>
            </a:avLst>
          </a:prstGeom>
          <a:solidFill>
            <a:srgbClr val="F3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606040"/>
            <a:ext cx="91440" cy="1691640"/>
          </a:xfrm>
          <a:prstGeom prst="rect">
            <a:avLst/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7432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68517D"/>
                </a:solidFill>
                <a:latin typeface="Calibri"/>
              </a:rPr>
              <a:t>1.6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474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Payback period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0B30"/>
                </a:solidFill>
                <a:latin typeface="Calibri"/>
              </a:rPr>
              <a:t>Where the 18 hours go each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83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</a:rPr>
              <a:t>Time-and-motion estimates from clinical teams running 1–2 case conferences/week.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4924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0B30"/>
                </a:solidFill>
                <a:latin typeface="Calibri"/>
              </a:rPr>
              <a:t>Scheduling &amp; calendaring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5385816"/>
            <a:ext cx="5943600" cy="164592"/>
          </a:xfrm>
          <a:prstGeom prst="roundRect">
            <a:avLst>
              <a:gd name="adj" fmla="val 12000"/>
            </a:avLst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00400" y="5385816"/>
            <a:ext cx="5943600" cy="164592"/>
          </a:xfrm>
          <a:prstGeom prst="roundRect">
            <a:avLst>
              <a:gd name="adj" fmla="val 40000"/>
            </a:avLst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534924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30"/>
                </a:solidFill>
                <a:latin typeface="Calibri"/>
              </a:rPr>
              <a:t>5.0 hrs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586983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0B30"/>
                </a:solidFill>
                <a:latin typeface="Calibri"/>
              </a:rPr>
              <a:t>Agenda prep &amp; case pulls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5623559"/>
            <a:ext cx="5943600" cy="164592"/>
          </a:xfrm>
          <a:prstGeom prst="roundRect">
            <a:avLst>
              <a:gd name="adj" fmla="val 12000"/>
            </a:avLst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00400" y="5623559"/>
            <a:ext cx="4754880" cy="164592"/>
          </a:xfrm>
          <a:prstGeom prst="roundRect">
            <a:avLst>
              <a:gd name="adj" fmla="val 40000"/>
            </a:avLst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5586983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30"/>
                </a:solidFill>
                <a:latin typeface="Calibri"/>
              </a:rPr>
              <a:t>4.0 hrs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24727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0B30"/>
                </a:solidFill>
                <a:latin typeface="Calibri"/>
              </a:rPr>
              <a:t>Minute-taking &amp; decision log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0" y="5861303"/>
            <a:ext cx="5943600" cy="164592"/>
          </a:xfrm>
          <a:prstGeom prst="roundRect">
            <a:avLst>
              <a:gd name="adj" fmla="val 12000"/>
            </a:avLst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200400" y="5861303"/>
            <a:ext cx="4160520" cy="164592"/>
          </a:xfrm>
          <a:prstGeom prst="roundRect">
            <a:avLst>
              <a:gd name="adj" fmla="val 40000"/>
            </a:avLst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5824727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30"/>
                </a:solidFill>
                <a:latin typeface="Calibri"/>
              </a:rPr>
              <a:t>3.5 hrs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6247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0B30"/>
                </a:solidFill>
                <a:latin typeface="Calibri"/>
              </a:rPr>
              <a:t>RSVP chase &amp; no-show recovery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0" y="6099048"/>
            <a:ext cx="5943600" cy="164592"/>
          </a:xfrm>
          <a:prstGeom prst="roundRect">
            <a:avLst>
              <a:gd name="adj" fmla="val 12000"/>
            </a:avLst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200400" y="6099048"/>
            <a:ext cx="3566160" cy="164592"/>
          </a:xfrm>
          <a:prstGeom prst="roundRect">
            <a:avLst>
              <a:gd name="adj" fmla="val 40000"/>
            </a:avLst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60624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30"/>
                </a:solidFill>
                <a:latin typeface="Calibri"/>
              </a:rPr>
              <a:t>3.0 hrs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300216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0B30"/>
                </a:solidFill>
                <a:latin typeface="Calibri"/>
              </a:rPr>
              <a:t>Post-meeting follow-up emails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0" y="6336792"/>
            <a:ext cx="5943600" cy="164592"/>
          </a:xfrm>
          <a:prstGeom prst="roundRect">
            <a:avLst>
              <a:gd name="adj" fmla="val 12000"/>
            </a:avLst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200400" y="6336792"/>
            <a:ext cx="2971800" cy="164592"/>
          </a:xfrm>
          <a:prstGeom prst="roundRect">
            <a:avLst>
              <a:gd name="adj" fmla="val 4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630021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30"/>
                </a:solidFill>
                <a:latin typeface="Calibri"/>
              </a:rPr>
              <a:t>2.5 hrs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REVENUE &amp; THROUGHPUT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0B30"/>
                </a:solidFill>
                <a:latin typeface="Calibri"/>
              </a:rPr>
              <a:t>Beyond hours — what BioMedMeet unlocks.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5303520" cy="2057400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91440" cy="2057400"/>
          </a:xfrm>
          <a:prstGeom prst="rect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70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0B30"/>
                </a:solidFill>
                <a:latin typeface="Calibri"/>
              </a:rPr>
              <a:t>Faster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2807208"/>
            <a:ext cx="1691640" cy="320040"/>
          </a:xfrm>
          <a:prstGeom prst="roundRect">
            <a:avLst>
              <a:gd name="adj" fmla="val 50000"/>
            </a:avLst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80720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+1 case / MDT /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37560"/>
            <a:ext cx="4754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Decision-to-distribution time falls from days to minutes. Patients reach treatment sooner; throughput per MDT rises.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606040"/>
            <a:ext cx="5303520" cy="2057400"/>
          </a:xfrm>
          <a:prstGeom prst="roundRect">
            <a:avLst>
              <a:gd name="adj" fmla="val 12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2606040"/>
            <a:ext cx="91440" cy="2057400"/>
          </a:xfrm>
          <a:prstGeom prst="rect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70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0B30"/>
                </a:solidFill>
                <a:latin typeface="Calibri"/>
              </a:rPr>
              <a:t>Higher-value MDTs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807208"/>
            <a:ext cx="1691640" cy="320040"/>
          </a:xfrm>
          <a:prstGeom prst="roundRect">
            <a:avLst>
              <a:gd name="adj" fmla="val 50000"/>
            </a:avLst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80720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30-40% capacity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37560"/>
            <a:ext cx="4754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Structured case rooms let panels handle 30–40% more cases in the same calendar slot. No time lost to scheduling friction.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46320"/>
            <a:ext cx="5303520" cy="2057400"/>
          </a:xfrm>
          <a:prstGeom prst="roundRect">
            <a:avLst>
              <a:gd name="adj" fmla="val 12000"/>
            </a:avLst>
          </a:prstGeom>
          <a:solidFill>
            <a:srgbClr val="F3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846320"/>
            <a:ext cx="91440" cy="2057400"/>
          </a:xfrm>
          <a:prstGeom prst="rect">
            <a:avLst/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0109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0B30"/>
                </a:solidFill>
                <a:latin typeface="Calibri"/>
              </a:rPr>
              <a:t>Stronger billing &amp; coding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5047488"/>
            <a:ext cx="1691640" cy="320040"/>
          </a:xfrm>
          <a:prstGeom prst="roundRect">
            <a:avLst>
              <a:gd name="adj" fmla="val 50000"/>
            </a:avLst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504748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Lower denials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577840"/>
            <a:ext cx="4754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Auto-generated, signed PDF summaries feed coders with structured decisions — fewer rejected claims, cleaner CPT documentation.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4846320"/>
            <a:ext cx="5303520" cy="2057400"/>
          </a:xfrm>
          <a:prstGeom prst="roundRect">
            <a:avLst>
              <a:gd name="adj" fmla="val 12000"/>
            </a:avLst>
          </a:prstGeom>
          <a:solidFill>
            <a:srgbClr val="E8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4846320"/>
            <a:ext cx="91440" cy="2057400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50109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0B30"/>
                </a:solidFill>
                <a:latin typeface="Calibri"/>
              </a:rPr>
              <a:t>Audit &amp; accreditation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18320" y="5047488"/>
            <a:ext cx="1691640" cy="320040"/>
          </a:xfrm>
          <a:prstGeom prst="roundRect">
            <a:avLst>
              <a:gd name="adj" fmla="val 50000"/>
            </a:avLst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504748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Audit-ready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577840"/>
            <a:ext cx="4754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Joint Commission / NABH-ready decision trail. One click to export any meeting's full history for review.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240000">
            <a:off x="-1828800" y="5029200"/>
            <a:ext cx="18288000" cy="3200400"/>
          </a:xfrm>
          <a:prstGeom prst="parallelogram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3645" y="-150876"/>
            <a:ext cx="585520" cy="859536"/>
          </a:xfrm>
          <a:custGeom>
            <a:avLst/>
            <a:gdLst/>
            <a:ahLst/>
            <a:cxnLst/>
            <a:rect l="l" t="t" r="r" b="b"/>
            <a:pathLst>
              <a:path w="585520" h="859536">
                <a:moveTo>
                  <a:pt x="585520" y="859536"/>
                </a:moveTo>
                <a:lnTo>
                  <a:pt x="0" y="150876"/>
                </a:lnTo>
                <a:lnTo>
                  <a:pt x="53645" y="60350"/>
                </a:lnTo>
                <a:lnTo>
                  <a:pt x="107289" y="261518"/>
                </a:lnTo>
                <a:lnTo>
                  <a:pt x="160934" y="0"/>
                </a:lnTo>
                <a:lnTo>
                  <a:pt x="214579" y="150876"/>
                </a:lnTo>
                <a:lnTo>
                  <a:pt x="268224" y="150876"/>
                </a:lnTo>
              </a:path>
            </a:pathLst>
          </a:cu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57200"/>
            <a:ext cx="320040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READY TO SEE IT LIVE?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Let's book a 15-minute walkthrough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for Mayo Clinic.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ECEAE3"/>
                </a:solidFill>
                <a:latin typeface="Calibri"/>
              </a:rPr>
              <a:t>We'll bring a working sandbox so Mayo Clinic's team can click around — schedule a recurring tumor board, run a sample case, generate the PDF — all in real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486400"/>
            <a:ext cx="38404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0B30"/>
                </a:solidFill>
                <a:latin typeface="Calibri"/>
              </a:rPr>
              <a:t>Email  Demo@BioMedMeet.com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5486400"/>
            <a:ext cx="3840480" cy="640080"/>
          </a:xfrm>
          <a:prstGeom prst="roundRect">
            <a:avLst>
              <a:gd name="adj" fmla="val 50000"/>
            </a:avLst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548640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Visit  biomedmeet.com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CEAE3"/>
                </a:solidFill>
                <a:latin typeface="Calibri"/>
              </a:rPr>
              <a:t>Thank you  ·  BioMedMeet  ·  biomedmeet.com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