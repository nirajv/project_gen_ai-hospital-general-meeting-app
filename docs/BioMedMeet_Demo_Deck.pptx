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720000">
            <a:off x="8412480" y="-1371600"/>
            <a:ext cx="7315200" cy="10058400"/>
          </a:xfrm>
          <a:prstGeom prst="parallelogram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720000">
            <a:off x="6949440" y="-2286000"/>
            <a:ext cx="457200" cy="11887200"/>
          </a:xfrm>
          <a:prstGeom prst="parallelogram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3645" y="-150876"/>
            <a:ext cx="585520" cy="859536"/>
          </a:xfrm>
          <a:custGeom>
            <a:avLst/>
            <a:gdLst/>
            <a:ahLst/>
            <a:cxnLst/>
            <a:rect l="l" t="t" r="r" b="b"/>
            <a:pathLst>
              <a:path w="585520" h="859536">
                <a:moveTo>
                  <a:pt x="585520" y="859536"/>
                </a:moveTo>
                <a:lnTo>
                  <a:pt x="0" y="150876"/>
                </a:lnTo>
                <a:lnTo>
                  <a:pt x="53645" y="60350"/>
                </a:lnTo>
                <a:lnTo>
                  <a:pt x="107289" y="261518"/>
                </a:lnTo>
                <a:lnTo>
                  <a:pt x="160934" y="0"/>
                </a:lnTo>
                <a:lnTo>
                  <a:pt x="214579" y="150876"/>
                </a:lnTo>
                <a:lnTo>
                  <a:pt x="268224" y="150876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457200"/>
            <a:ext cx="320040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BioMedMeet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HOSPITAL CASE-MEETING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9144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Stop scheduling.</a:t>
            </a:r>
          </a:p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Start deciding.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CEAE3"/>
                </a:solidFill>
                <a:latin typeface="Calibri"/>
              </a:rPr>
              <a:t>BioMedMeet turns weekly multidisciplinary case meetings into structured, audit-ready decisions — without the calendaring, minute-taking and follow-up overhead.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Request your 15-minute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CEAE3"/>
                </a:solidFill>
                <a:latin typeface="Calibri"/>
              </a:rPr>
              <a:t>Demo deck  ·  Prepared for hospital leadership  ·  Demo@BioMedMeet.com  ·  biomedmeet.com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WHAT IS BIOMEDMEET?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0B30"/>
                </a:solidFill>
                <a:latin typeface="Calibri"/>
              </a:rPr>
              <a:t>The case-meeting platform built for hospital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1264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Tumor boards, MDTs, M&amp;Ms, departmental rounds — every hospital runs them, and every hospital wastes 15+ hours per team per week around them.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BioMedMeet replaces the spreadsheets, email threads, ad-hoc Teams invites and post-meeting follow-ups with one purpose-built workflow: schedule, present cases, log decisions, generate a signed PDF summary, distribute it automatically.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Self-hosted on your own network. No PHI ever leaves the hospital. Microsoft Teams integration. Holiday-aware recurring schedules. RSVP via email or in-app. Decision-log 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9748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2697480"/>
            <a:ext cx="91440" cy="105156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80720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B6658"/>
                </a:solidFill>
                <a:latin typeface="Calibri"/>
              </a:rPr>
              <a:t>18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31927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saved per team per week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93192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3931920"/>
            <a:ext cx="91440" cy="105156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04164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94E20"/>
                </a:solidFill>
                <a:latin typeface="Calibri"/>
              </a:rPr>
              <a:t>$187,200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55371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clinician time recovered / yr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516636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5166360"/>
            <a:ext cx="91440" cy="105156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527608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8517D"/>
                </a:solidFill>
                <a:latin typeface="Calibri"/>
              </a:rPr>
              <a:t>~1.6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7881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payback period vs. licence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WHY HOSPITALS BUY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0B30"/>
                </a:solidFill>
                <a:latin typeface="Calibri"/>
              </a:rPr>
              <a:t>From scattered tools  →  one structured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2120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2606040"/>
            <a:ext cx="5212080" cy="4114800"/>
          </a:xfrm>
          <a:prstGeom prst="roundRect">
            <a:avLst>
              <a:gd name="adj" fmla="val 12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94E20"/>
                </a:solidFill>
                <a:latin typeface="Calibri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Today, every Monday morning…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7490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5 different Outlook threads scheduling one MDT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605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Agenda Word doc pasted into a chat 10 minutes 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7200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72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Decisions captured in a scribe's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8347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8347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Follow-ups manually dispatched to oncology, radiology, surgery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9495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39495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No audit trail when a decision is later challenged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63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With BioMedMeet…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74903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7490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Recurring MDT scheduled once, Teams link auto-attached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16052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605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Agenda pulled from the patient list, in two clicks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57200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572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Decisions logged live, signed off by the chair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98347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98347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PDF summary auto-mailed to attendees &amp; EMR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39495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39495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Every decision time-stamped, attributable, exportable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PLATFORM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Six pillars. One platform. Zero spreadsheets.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157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B665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432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Smart 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72968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Recurring meetings (daily / weekly / monthly-on), holiday-aware for US, India and UK calendars, with Teams links generated on save.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606040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606040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7157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694E20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432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Patient case rooms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172968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Patient cases attached to a meeting with diagnoses, MRN, allergies, medications, files and a 5-tab case room for the discussion.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606040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606040"/>
            <a:ext cx="91440" cy="169164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7157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68517D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432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Decision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172968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Every decision captured with the responsible doctor, priority, follow-up date and free-text rationale — searchable forever.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2272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E8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62272"/>
            <a:ext cx="91440" cy="169164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0B30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59943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Treatment plans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A single source of truth per patient. Latest plan rolls up to the patient detail page; older plans become an audit history.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462272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4462272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4572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B6658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59943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PDF summaries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502920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One-click PDF summary at meeting close — attendees, decisions, treatment plans, agenda items. Mailed automatically.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4462272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4462272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4572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694E20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59943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Inbound RSVP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02920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Participants RSVP from email links *and* by replying to the invite. An admin RSVP log surfaces every parsed reply for audit.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THE 4-STEP MEETING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Schedule  →  Discuss  →  Decide  →  Distribute.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Recurring meetings with Teams links auto-attached, holiday-aware date validation, and email invites with iCal.</a:t>
            </a:r>
          </a:p>
        </p:txBody>
      </p:sp>
      <p:pic>
        <p:nvPicPr>
          <p:cNvPr id="14" name="Picture 13" descr="ste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00600"/>
            <a:ext cx="2286000" cy="1143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38328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Discuss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Live 5-tab case room: Patients, Agenda, Files, Treatment Plans, Decisions. Built for an MDT panel.</a:t>
            </a:r>
          </a:p>
        </p:txBody>
      </p:sp>
      <p:pic>
        <p:nvPicPr>
          <p:cNvPr id="20" name="Picture 19" descr="step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800600"/>
            <a:ext cx="2286000" cy="1143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1792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Decision log captures the chair-approved outcome, owner, priority and follow-up — every entry signed.</a:t>
            </a:r>
          </a:p>
        </p:txBody>
      </p:sp>
      <p:pic>
        <p:nvPicPr>
          <p:cNvPr id="26" name="Picture 25" descr="step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00600"/>
            <a:ext cx="2286000" cy="11430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05256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Distribute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Auto PDF + auto-email to attendees the moment the meeting is closed. Searchable history per patient.</a:t>
            </a:r>
          </a:p>
        </p:txBody>
      </p:sp>
      <p:pic>
        <p:nvPicPr>
          <p:cNvPr id="32" name="Picture 31" descr="step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4800600"/>
            <a:ext cx="2286000" cy="1143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ARCHITECTURE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Designed to satisfy your CISO before your CMO.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On-prem by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1927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Self-hosted Docker stack on your hospital network. PHI never leaves the building.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60604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606040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788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Microsoft 365 native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31927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Graph API for Teams meetings, SMTP for invites, iCal for two-way calendar sync.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91440" cy="169164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Audit-ready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3951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Every decision timestamped, attributable, exportable. Soft-deletes preserve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52628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526280"/>
            <a:ext cx="91440" cy="169164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709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Role-based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23951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Organizer, doctor, nurse, admin. Field-level guardrails on patient updates, agenda changes &amp; decisions.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0B30"/>
                </a:solidFill>
                <a:latin typeface="Calibri"/>
              </a:rPr>
              <a:t>Own it. Don't rent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One-time perpetual licence. Self-hosted. No per-user fees. No monthly bill. Two-month warranty trial.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585216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B6658"/>
                </a:solidFill>
                <a:latin typeface="Calibri"/>
              </a:rPr>
              <a:t>PERPETUAL LICENCE  ·  SELF-HOSTED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</a:rPr>
              <a:t>BioMedMeet for hospitals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0B0B30"/>
                </a:solidFill>
                <a:latin typeface="Calibri"/>
              </a:rPr>
              <a:t>$25,000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+ applicable taxes  ·  one-time  ·  no recurring fees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4068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Unlimited users · unlimited meetings · unlimited patients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0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66013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Microsoft Teams + holiday-aware recurring calendar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7959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879592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Decision log · treatment plans · PDF summaries ·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9904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09904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Two-month warranty trial — full refund window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788920"/>
            <a:ext cx="4937760" cy="3520440"/>
          </a:xfrm>
          <a:prstGeom prst="roundRect">
            <a:avLst>
              <a:gd name="adj" fmla="val 12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B6658"/>
                </a:solidFill>
                <a:latin typeface="Calibri"/>
              </a:rPr>
              <a:t>WHAT YOU DON'T 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33756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Compare against the SaaS alternative.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069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Per-user monthly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0690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4165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Per-meeting / per-case fees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41655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76402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Cloud storage add-ons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476402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11149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Annual renewal markup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511149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4589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Data-egress charges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545896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806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Lock-in clause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5806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RETURN ON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Pays for itself before the warranty trial ends.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B6658"/>
                </a:solidFill>
                <a:latin typeface="Calibri"/>
              </a:rPr>
              <a:t>18 hrs /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Hours reclaimed per MDT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60604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606040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94E20"/>
                </a:solidFill>
                <a:latin typeface="Calibri"/>
              </a:rPr>
              <a:t>$187,200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74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Clinician time recovered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60604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606040"/>
            <a:ext cx="91440" cy="169164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8517D"/>
                </a:solidFill>
                <a:latin typeface="Calibri"/>
              </a:rPr>
              <a:t>1.6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474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Payback 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Where the 18 hours go each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</a:rPr>
              <a:t>Time-and-motion estimates from clinical teams running 1–2 case conferences/week.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Scheduling &amp; calendaring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5385816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0" y="5385816"/>
            <a:ext cx="5943600" cy="164592"/>
          </a:xfrm>
          <a:prstGeom prst="roundRect">
            <a:avLst>
              <a:gd name="adj" fmla="val 4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5349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5.0 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86983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Agenda prep &amp; case pulls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5623559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0" y="5623559"/>
            <a:ext cx="4754880" cy="164592"/>
          </a:xfrm>
          <a:prstGeom prst="roundRect">
            <a:avLst>
              <a:gd name="adj" fmla="val 4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558698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4.0 hrs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24727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Minute-taking &amp; decision 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5861303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00400" y="5861303"/>
            <a:ext cx="4160520" cy="164592"/>
          </a:xfrm>
          <a:prstGeom prst="roundRect">
            <a:avLst>
              <a:gd name="adj" fmla="val 40000"/>
            </a:avLst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582472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3.5 hrs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6247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RSVP chase &amp; no-show recovery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6099048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00400" y="6099048"/>
            <a:ext cx="3566160" cy="164592"/>
          </a:xfrm>
          <a:prstGeom prst="roundRect">
            <a:avLst>
              <a:gd name="adj" fmla="val 40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60624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3.0 hrs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300216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Post-meeting follow-up emails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0" y="6336792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00400" y="6336792"/>
            <a:ext cx="2971800" cy="164592"/>
          </a:xfrm>
          <a:prstGeom prst="roundRect">
            <a:avLst>
              <a:gd name="adj" fmla="val 4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630021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2.5 hrs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REVENUE &amp; THROUGHPUT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Beyond hours — what BioMedMeet unlocks.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205740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70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Faster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80720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80720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+1 case / MDT /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Decision-to-distribution time falls from days to minutes. Patients reach treatment sooner; throughput per MDT rises.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60604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2606040"/>
            <a:ext cx="91440" cy="205740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70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Higher-value MDTs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80720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80720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30-40%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3756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Structured case rooms let panels handle 30–40% more cases in the same calendar slot. No time lost to scheduling friction.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46320"/>
            <a:ext cx="91440" cy="205740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109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Stronger billing &amp; coding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504748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504748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Lower denials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57784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Auto-generated, signed PDF summaries feed coders with structured decisions — fewer rejected claims, cleaner CPT documentation.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484632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E8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4846320"/>
            <a:ext cx="91440" cy="205740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0109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Audit &amp; accreditation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0" y="504748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504748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Audit-ready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57784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Joint Commission / NABH-ready decision trail. One click to export any meeting's full history for review.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240000">
            <a:off x="-1828800" y="5029200"/>
            <a:ext cx="18288000" cy="3200400"/>
          </a:xfrm>
          <a:prstGeom prst="parallelogram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3645" y="-150876"/>
            <a:ext cx="585520" cy="859536"/>
          </a:xfrm>
          <a:custGeom>
            <a:avLst/>
            <a:gdLst/>
            <a:ahLst/>
            <a:cxnLst/>
            <a:rect l="l" t="t" r="r" b="b"/>
            <a:pathLst>
              <a:path w="585520" h="859536">
                <a:moveTo>
                  <a:pt x="585520" y="859536"/>
                </a:moveTo>
                <a:lnTo>
                  <a:pt x="0" y="150876"/>
                </a:lnTo>
                <a:lnTo>
                  <a:pt x="53645" y="60350"/>
                </a:lnTo>
                <a:lnTo>
                  <a:pt x="107289" y="261518"/>
                </a:lnTo>
                <a:lnTo>
                  <a:pt x="160934" y="0"/>
                </a:lnTo>
                <a:lnTo>
                  <a:pt x="214579" y="150876"/>
                </a:lnTo>
                <a:lnTo>
                  <a:pt x="268224" y="150876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57200"/>
            <a:ext cx="320040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READY TO SEE IT LIVE?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Let's book a 15-minute walkthrough.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ECEAE3"/>
                </a:solidFill>
                <a:latin typeface="Calibri"/>
              </a:rPr>
              <a:t>We'll bring a working sandbox so your team can click around — schedule a recurring tumor board, run a sample case, generate the PDF — all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86400"/>
            <a:ext cx="38404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0B30"/>
                </a:solidFill>
                <a:latin typeface="Calibri"/>
              </a:rPr>
              <a:t>Email  Demo@BioMedMeet.com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486400"/>
            <a:ext cx="3840480" cy="640080"/>
          </a:xfrm>
          <a:prstGeom prst="roundRect">
            <a:avLst>
              <a:gd name="adj" fmla="val 5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4864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Visit  biomedmeet.com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CEAE3"/>
                </a:solidFill>
                <a:latin typeface="Calibri"/>
              </a:rPr>
              <a:t>Thank you  ·  BioMedMeet  ·  biomedmeet.com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